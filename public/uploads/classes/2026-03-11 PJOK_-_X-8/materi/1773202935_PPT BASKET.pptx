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56" r:id="rId4"/>
    <p:sldId id="257" r:id="rId5"/>
    <p:sldId id="258" r:id="rId6"/>
    <p:sldId id="264" r:id="rId7"/>
    <p:sldId id="259" r:id="rId8"/>
    <p:sldId id="260" r:id="rId9"/>
    <p:sldId id="263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6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33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8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65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15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39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8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3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070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54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758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8210C-C19A-4938-BB58-619CEE2FF9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4797319-004E-4345-8098-48F64B5B6A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29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3468-2689-4292-8B08-131BA883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PERTANYAAN PEMANTIK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DD542-F43E-4498-B6BD-9326DE88C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400" dirty="0">
                <a:latin typeface="Telegraf Medium"/>
              </a:rPr>
              <a:t>Apa yang kamu ketahui </a:t>
            </a:r>
            <a:r>
              <a:rPr lang="en-US" sz="2400" dirty="0" err="1">
                <a:latin typeface="Telegraf Medium"/>
              </a:rPr>
              <a:t>tentang</a:t>
            </a:r>
            <a:r>
              <a:rPr lang="id-ID" sz="2400" dirty="0">
                <a:latin typeface="Telegraf Medium"/>
              </a:rPr>
              <a:t> permainan bola basket? </a:t>
            </a:r>
            <a:endParaRPr lang="en-US" sz="2400" dirty="0">
              <a:latin typeface="Telegraf Medium"/>
            </a:endParaRPr>
          </a:p>
          <a:p>
            <a:r>
              <a:rPr lang="id-ID" sz="2400" dirty="0">
                <a:latin typeface="Telegraf Medium"/>
              </a:rPr>
              <a:t>Apa manfaat permainan bola basket dalam kehidupan sehari-hari? </a:t>
            </a:r>
            <a:endParaRPr lang="en-US" sz="2400" dirty="0">
              <a:latin typeface="Telegraf Medium"/>
            </a:endParaRPr>
          </a:p>
          <a:p>
            <a:r>
              <a:rPr lang="id-ID" sz="2400" dirty="0">
                <a:latin typeface="Telegraf Medium"/>
              </a:rPr>
              <a:t>Apa saja teknik dasar dalam permainan bola basket?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29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FB3B-B82E-49C1-8731-E30E4F79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TUJUAN PEMBELAJARAN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6EC8-D37C-42B6-818C-8013FFEAD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spcBef>
                <a:spcPct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Peserta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didik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melalui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aktivitas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pembelajaran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latihan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dapat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menunjukkan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kemampuan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dalam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mempraktikkan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menganalisis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hasil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racangan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keterampilan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gerak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fungsional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permainan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olahraga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(dribble/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menggiring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membawa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)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permainan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bola basket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sesuai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potensi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kreativitas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dimiliki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serta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mengembangkan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nilai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nilai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karakter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Profil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Pelajar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Pancasila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dengan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meregulasi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menginternalisasi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nilai-nilai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gerak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seperti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berkolaborasi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kepedulian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berbagi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pemahaman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diri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situasi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dihadapi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, dan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meregulasi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diri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serta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dapat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menerapkan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pola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perilaku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hidup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sehat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dalam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kehidupan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sehari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 -</a:t>
            </a:r>
            <a:r>
              <a:rPr lang="en-US" sz="2000" dirty="0" err="1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hari</a:t>
            </a:r>
            <a:r>
              <a:rPr lang="en-US" sz="2000" dirty="0">
                <a:solidFill>
                  <a:srgbClr val="000000"/>
                </a:solidFill>
                <a:latin typeface="Telegraf Medium"/>
                <a:ea typeface="Times New Roman" panose="02020603050405020304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218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4508-5563-418C-938E-4B4CF40A9C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Permainan</a:t>
            </a:r>
            <a:r>
              <a:rPr lang="en-US" dirty="0"/>
              <a:t> bola basket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9F6E7-25EC-421B-867D-A1F3E9EBA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dribble (MENGGIRING BOLA)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permainan</a:t>
            </a:r>
            <a:r>
              <a:rPr lang="en-US" dirty="0"/>
              <a:t> bola basket</a:t>
            </a:r>
          </a:p>
        </p:txBody>
      </p:sp>
    </p:spTree>
    <p:extLst>
      <p:ext uri="{BB962C8B-B14F-4D97-AF65-F5344CB8AC3E}">
        <p14:creationId xmlns:p14="http://schemas.microsoft.com/office/powerpoint/2010/main" val="123779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602C-47E3-4E75-AC5C-47F809F6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SEJARAH SINGKAT BOLA BASKET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ACD6-F787-48D1-87E5-9863BD166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Bola basket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diciptakan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1891 oleh Dr. James Naismith,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instruktur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jasmani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YMCA di Springfield, Massachusetts,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menjaga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dingin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menetapkan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13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bola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keranjang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sasaran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Naismith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permainan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popularitas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singkat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bola basket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menyebar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universitas di Amerika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Serikat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pada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1936,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olahraga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resmi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Olimpiade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Panas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National Basketball Association (NBA)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didirikan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1946 dan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terkemuka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dunia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bergabung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National Basketball League (NBL) pada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1949.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Seiring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bola basket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olahraga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jutaan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penggemar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pemain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melahirkan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ikon-ikon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Michael Jordan dan LeBron James,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menjadikannya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olahraga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paling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populer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dinamis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dunia.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2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CB57-C787-414C-8C53-8C85536FF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DEFINISI BOLA BASKET DAN </a:t>
            </a:r>
            <a:r>
              <a:rPr lang="en-US" dirty="0" err="1"/>
              <a:t>Induk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 </a:t>
            </a:r>
            <a:r>
              <a:rPr lang="en-US" dirty="0" err="1"/>
              <a:t>internasional</a:t>
            </a:r>
            <a:r>
              <a:rPr lang="en-US" dirty="0"/>
              <a:t> dan </a:t>
            </a:r>
            <a:r>
              <a:rPr lang="en-US" dirty="0" err="1"/>
              <a:t>nasional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DEE9-C5EE-4248-8A96-F46873D8C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sz="2300" b="0" i="0" dirty="0" err="1">
                <a:effectLst/>
                <a:latin typeface="__Inter_d65c78"/>
              </a:rPr>
              <a:t>Permainan</a:t>
            </a:r>
            <a:r>
              <a:rPr lang="en-US" sz="2300" b="0" i="0" dirty="0">
                <a:effectLst/>
                <a:latin typeface="__Inter_d65c78"/>
              </a:rPr>
              <a:t> bola basket </a:t>
            </a:r>
            <a:r>
              <a:rPr lang="en-US" sz="2300" b="0" i="0" dirty="0" err="1">
                <a:effectLst/>
                <a:latin typeface="__Inter_d65c78"/>
              </a:rPr>
              <a:t>adalah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olahraga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tim</a:t>
            </a:r>
            <a:r>
              <a:rPr lang="en-US" sz="2300" b="0" i="0" dirty="0">
                <a:effectLst/>
                <a:latin typeface="__Inter_d65c78"/>
              </a:rPr>
              <a:t> yang </a:t>
            </a:r>
            <a:r>
              <a:rPr lang="en-US" sz="2300" b="0" i="0" dirty="0" err="1">
                <a:effectLst/>
                <a:latin typeface="__Inter_d65c78"/>
              </a:rPr>
              <a:t>dimainkan</a:t>
            </a:r>
            <a:r>
              <a:rPr lang="en-US" sz="2300" b="0" i="0" dirty="0">
                <a:effectLst/>
                <a:latin typeface="__Inter_d65c78"/>
              </a:rPr>
              <a:t> oleh </a:t>
            </a:r>
            <a:r>
              <a:rPr lang="en-US" sz="2300" b="0" i="0" dirty="0" err="1">
                <a:effectLst/>
                <a:latin typeface="__Inter_d65c78"/>
              </a:rPr>
              <a:t>dua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tim</a:t>
            </a:r>
            <a:r>
              <a:rPr lang="en-US" sz="2300" b="0" i="0" dirty="0">
                <a:effectLst/>
                <a:latin typeface="__Inter_d65c78"/>
              </a:rPr>
              <a:t> yang masing-masing </a:t>
            </a:r>
            <a:r>
              <a:rPr lang="en-US" sz="2300" b="0" i="0" dirty="0" err="1">
                <a:effectLst/>
                <a:latin typeface="__Inter_d65c78"/>
              </a:rPr>
              <a:t>terdiri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dari</a:t>
            </a:r>
            <a:r>
              <a:rPr lang="en-US" sz="2300" b="0" i="0" dirty="0">
                <a:effectLst/>
                <a:latin typeface="__Inter_d65c78"/>
              </a:rPr>
              <a:t> lima </a:t>
            </a:r>
            <a:r>
              <a:rPr lang="en-US" sz="2300" b="0" i="0" dirty="0" err="1">
                <a:effectLst/>
                <a:latin typeface="__Inter_d65c78"/>
              </a:rPr>
              <a:t>pemain</a:t>
            </a:r>
            <a:r>
              <a:rPr lang="en-US" sz="2300" b="0" i="0" dirty="0">
                <a:effectLst/>
                <a:latin typeface="__Inter_d65c78"/>
              </a:rPr>
              <a:t>. </a:t>
            </a:r>
            <a:r>
              <a:rPr lang="en-US" sz="2300" b="0" i="0" dirty="0" err="1">
                <a:effectLst/>
                <a:latin typeface="__Inter_d65c78"/>
              </a:rPr>
              <a:t>Tujuan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utama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dari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permainan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ini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adalah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mencetak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poin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dengan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melempar</a:t>
            </a:r>
            <a:r>
              <a:rPr lang="en-US" sz="2300" b="0" i="0" dirty="0">
                <a:effectLst/>
                <a:latin typeface="__Inter_d65c78"/>
              </a:rPr>
              <a:t> bola </a:t>
            </a:r>
            <a:r>
              <a:rPr lang="en-US" sz="2300" b="0" i="0" dirty="0" err="1">
                <a:effectLst/>
                <a:latin typeface="__Inter_d65c78"/>
              </a:rPr>
              <a:t>ke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dalam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keranjang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lawan</a:t>
            </a:r>
            <a:r>
              <a:rPr lang="en-US" sz="2300" b="0" i="0" dirty="0">
                <a:effectLst/>
                <a:latin typeface="__Inter_d65c78"/>
              </a:rPr>
              <a:t> yang </a:t>
            </a:r>
            <a:r>
              <a:rPr lang="en-US" sz="2300" b="0" i="0" dirty="0" err="1">
                <a:effectLst/>
                <a:latin typeface="__Inter_d65c78"/>
              </a:rPr>
              <a:t>terletak</a:t>
            </a:r>
            <a:r>
              <a:rPr lang="en-US" sz="2300" b="0" i="0" dirty="0">
                <a:effectLst/>
                <a:latin typeface="__Inter_d65c78"/>
              </a:rPr>
              <a:t> di </a:t>
            </a:r>
            <a:r>
              <a:rPr lang="en-US" sz="2300" b="0" i="0" dirty="0" err="1">
                <a:effectLst/>
                <a:latin typeface="__Inter_d65c78"/>
              </a:rPr>
              <a:t>ketinggian</a:t>
            </a:r>
            <a:r>
              <a:rPr lang="en-US" sz="2300" b="0" i="0" dirty="0">
                <a:effectLst/>
                <a:latin typeface="__Inter_d65c78"/>
              </a:rPr>
              <a:t> 3,05 meter. </a:t>
            </a:r>
            <a:r>
              <a:rPr lang="en-US" sz="2300" b="0" i="0" dirty="0" err="1">
                <a:effectLst/>
                <a:latin typeface="__Inter_d65c78"/>
              </a:rPr>
              <a:t>Permainan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ini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berlangsung</a:t>
            </a:r>
            <a:r>
              <a:rPr lang="en-US" sz="2300" b="0" i="0" dirty="0">
                <a:effectLst/>
                <a:latin typeface="__Inter_d65c78"/>
              </a:rPr>
              <a:t> di </a:t>
            </a:r>
            <a:r>
              <a:rPr lang="en-US" sz="2300" b="0" i="0" dirty="0" err="1">
                <a:effectLst/>
                <a:latin typeface="__Inter_d65c78"/>
              </a:rPr>
              <a:t>lapangan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berbentuk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persegi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panjang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dengan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dua</a:t>
            </a:r>
            <a:r>
              <a:rPr lang="en-US" sz="2300" b="0" i="0" dirty="0">
                <a:effectLst/>
                <a:latin typeface="__Inter_d65c78"/>
              </a:rPr>
              <a:t> area yang </a:t>
            </a:r>
            <a:r>
              <a:rPr lang="en-US" sz="2300" b="0" i="0" dirty="0" err="1">
                <a:effectLst/>
                <a:latin typeface="__Inter_d65c78"/>
              </a:rPr>
              <a:t>disebut</a:t>
            </a:r>
            <a:r>
              <a:rPr lang="en-US" sz="2300" b="0" i="0" dirty="0">
                <a:effectLst/>
                <a:latin typeface="__Inter_d65c78"/>
              </a:rPr>
              <a:t> "key" di </a:t>
            </a:r>
            <a:r>
              <a:rPr lang="en-US" sz="2300" b="0" i="0" dirty="0" err="1">
                <a:effectLst/>
                <a:latin typeface="__Inter_d65c78"/>
              </a:rPr>
              <a:t>dekat</a:t>
            </a:r>
            <a:r>
              <a:rPr lang="en-US" sz="2300" b="0" i="0" dirty="0">
                <a:effectLst/>
                <a:latin typeface="__Inter_d65c78"/>
              </a:rPr>
              <a:t> masing-masing </a:t>
            </a:r>
            <a:r>
              <a:rPr lang="en-US" sz="2300" b="0" i="0" dirty="0" err="1">
                <a:effectLst/>
                <a:latin typeface="__Inter_d65c78"/>
              </a:rPr>
              <a:t>keranjang</a:t>
            </a:r>
            <a:r>
              <a:rPr lang="en-US" sz="2300" b="0" i="0" dirty="0">
                <a:effectLst/>
                <a:latin typeface="__Inter_d65c78"/>
              </a:rPr>
              <a:t>.</a:t>
            </a:r>
          </a:p>
          <a:p>
            <a:pPr algn="just"/>
            <a:r>
              <a:rPr lang="en-US" sz="2300" b="0" i="0" dirty="0" err="1">
                <a:effectLst/>
                <a:latin typeface="__Inter_d65c78"/>
              </a:rPr>
              <a:t>Setiap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tim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berusaha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untuk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menguasai</a:t>
            </a:r>
            <a:r>
              <a:rPr lang="en-US" sz="2300" b="0" i="0" dirty="0">
                <a:effectLst/>
                <a:latin typeface="__Inter_d65c78"/>
              </a:rPr>
              <a:t> bola dan </a:t>
            </a:r>
            <a:r>
              <a:rPr lang="en-US" sz="2300" b="0" i="0" dirty="0" err="1">
                <a:effectLst/>
                <a:latin typeface="__Inter_d65c78"/>
              </a:rPr>
              <a:t>mencetak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poin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dengan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melakukan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tembakan</a:t>
            </a:r>
            <a:r>
              <a:rPr lang="en-US" sz="2300" b="0" i="0" dirty="0">
                <a:effectLst/>
                <a:latin typeface="__Inter_d65c78"/>
              </a:rPr>
              <a:t>, dribble, dan </a:t>
            </a:r>
            <a:r>
              <a:rPr lang="en-US" sz="2300" b="0" i="0" dirty="0" err="1">
                <a:effectLst/>
                <a:latin typeface="__Inter_d65c78"/>
              </a:rPr>
              <a:t>umpan</a:t>
            </a:r>
            <a:r>
              <a:rPr lang="en-US" sz="2300" b="0" i="0" dirty="0">
                <a:effectLst/>
                <a:latin typeface="__Inter_d65c78"/>
              </a:rPr>
              <a:t>. </a:t>
            </a:r>
            <a:r>
              <a:rPr lang="en-US" sz="2300" b="0" i="0" dirty="0" err="1">
                <a:effectLst/>
                <a:latin typeface="__Inter_d65c78"/>
              </a:rPr>
              <a:t>Selain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mencetak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poin</a:t>
            </a:r>
            <a:r>
              <a:rPr lang="en-US" sz="2300" b="0" i="0" dirty="0">
                <a:effectLst/>
                <a:latin typeface="__Inter_d65c78"/>
              </a:rPr>
              <a:t>, </a:t>
            </a:r>
            <a:r>
              <a:rPr lang="en-US" sz="2300" b="0" i="0" dirty="0" err="1">
                <a:effectLst/>
                <a:latin typeface="__Inter_d65c78"/>
              </a:rPr>
              <a:t>tim</a:t>
            </a:r>
            <a:r>
              <a:rPr lang="en-US" sz="2300" b="0" i="0" dirty="0">
                <a:effectLst/>
                <a:latin typeface="__Inter_d65c78"/>
              </a:rPr>
              <a:t> juga </a:t>
            </a:r>
            <a:r>
              <a:rPr lang="en-US" sz="2300" b="0" i="0" dirty="0" err="1">
                <a:effectLst/>
                <a:latin typeface="__Inter_d65c78"/>
              </a:rPr>
              <a:t>berusaha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untuk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mencegah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tim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lawan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mencetak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poin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dengan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melakukan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pertahanan</a:t>
            </a:r>
            <a:r>
              <a:rPr lang="en-US" sz="2300" b="0" i="0" dirty="0">
                <a:effectLst/>
                <a:latin typeface="__Inter_d65c78"/>
              </a:rPr>
              <a:t>. </a:t>
            </a:r>
            <a:r>
              <a:rPr lang="en-US" sz="2300" b="0" i="0" dirty="0" err="1">
                <a:effectLst/>
                <a:latin typeface="__Inter_d65c78"/>
              </a:rPr>
              <a:t>Permainan</a:t>
            </a:r>
            <a:r>
              <a:rPr lang="en-US" sz="2300" b="0" i="0" dirty="0">
                <a:effectLst/>
                <a:latin typeface="__Inter_d65c78"/>
              </a:rPr>
              <a:t> bola basket </a:t>
            </a:r>
            <a:r>
              <a:rPr lang="en-US" sz="2300" b="0" i="0" dirty="0" err="1">
                <a:effectLst/>
                <a:latin typeface="__Inter_d65c78"/>
              </a:rPr>
              <a:t>memiliki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aturan</a:t>
            </a:r>
            <a:r>
              <a:rPr lang="en-US" sz="2300" b="0" i="0" dirty="0">
                <a:effectLst/>
                <a:latin typeface="__Inter_d65c78"/>
              </a:rPr>
              <a:t> yang </a:t>
            </a:r>
            <a:r>
              <a:rPr lang="en-US" sz="2300" b="0" i="0" dirty="0" err="1">
                <a:effectLst/>
                <a:latin typeface="__Inter_d65c78"/>
              </a:rPr>
              <a:t>mengatur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berbagai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aspek</a:t>
            </a:r>
            <a:r>
              <a:rPr lang="en-US" sz="2300" b="0" i="0" dirty="0">
                <a:effectLst/>
                <a:latin typeface="__Inter_d65c78"/>
              </a:rPr>
              <a:t>, </a:t>
            </a:r>
            <a:r>
              <a:rPr lang="en-US" sz="2300" b="0" i="0" dirty="0" err="1">
                <a:effectLst/>
                <a:latin typeface="__Inter_d65c78"/>
              </a:rPr>
              <a:t>termasuk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pelanggaran</a:t>
            </a:r>
            <a:r>
              <a:rPr lang="en-US" sz="2300" b="0" i="0" dirty="0">
                <a:effectLst/>
                <a:latin typeface="__Inter_d65c78"/>
              </a:rPr>
              <a:t>, </a:t>
            </a:r>
            <a:r>
              <a:rPr lang="en-US" sz="2300" b="0" i="0" dirty="0" err="1">
                <a:effectLst/>
                <a:latin typeface="__Inter_d65c78"/>
              </a:rPr>
              <a:t>waktu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permainan</a:t>
            </a:r>
            <a:r>
              <a:rPr lang="en-US" sz="2300" b="0" i="0" dirty="0">
                <a:effectLst/>
                <a:latin typeface="__Inter_d65c78"/>
              </a:rPr>
              <a:t>, dan </a:t>
            </a:r>
            <a:r>
              <a:rPr lang="en-US" sz="2300" b="0" i="0" dirty="0" err="1">
                <a:effectLst/>
                <a:latin typeface="__Inter_d65c78"/>
              </a:rPr>
              <a:t>cara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mencetak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poin</a:t>
            </a:r>
            <a:r>
              <a:rPr lang="en-US" sz="2300" b="0" i="0" dirty="0">
                <a:effectLst/>
                <a:latin typeface="__Inter_d65c78"/>
              </a:rPr>
              <a:t>. </a:t>
            </a:r>
            <a:r>
              <a:rPr lang="en-US" sz="2300" b="0" i="0" dirty="0" err="1">
                <a:effectLst/>
                <a:latin typeface="__Inter_d65c78"/>
              </a:rPr>
              <a:t>Olahraga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ini</a:t>
            </a:r>
            <a:r>
              <a:rPr lang="en-US" sz="2300" b="0" i="0" dirty="0">
                <a:effectLst/>
                <a:latin typeface="__Inter_d65c78"/>
              </a:rPr>
              <a:t> sangat </a:t>
            </a:r>
            <a:r>
              <a:rPr lang="en-US" sz="2300" b="0" i="0" dirty="0" err="1">
                <a:effectLst/>
                <a:latin typeface="__Inter_d65c78"/>
              </a:rPr>
              <a:t>populer</a:t>
            </a:r>
            <a:r>
              <a:rPr lang="en-US" sz="2300" b="0" i="0" dirty="0">
                <a:effectLst/>
                <a:latin typeface="__Inter_d65c78"/>
              </a:rPr>
              <a:t> di </a:t>
            </a:r>
            <a:r>
              <a:rPr lang="en-US" sz="2300" b="0" i="0" dirty="0" err="1">
                <a:effectLst/>
                <a:latin typeface="__Inter_d65c78"/>
              </a:rPr>
              <a:t>seluruh</a:t>
            </a:r>
            <a:r>
              <a:rPr lang="en-US" sz="2300" b="0" i="0" dirty="0">
                <a:effectLst/>
                <a:latin typeface="__Inter_d65c78"/>
              </a:rPr>
              <a:t> dunia dan </a:t>
            </a:r>
            <a:r>
              <a:rPr lang="en-US" sz="2300" b="0" i="0" dirty="0" err="1">
                <a:effectLst/>
                <a:latin typeface="__Inter_d65c78"/>
              </a:rPr>
              <a:t>dikenal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karena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kecepatan</a:t>
            </a:r>
            <a:r>
              <a:rPr lang="en-US" sz="2300" b="0" i="0" dirty="0">
                <a:effectLst/>
                <a:latin typeface="__Inter_d65c78"/>
              </a:rPr>
              <a:t>, </a:t>
            </a:r>
            <a:r>
              <a:rPr lang="en-US" sz="2300" b="0" i="0" dirty="0" err="1">
                <a:effectLst/>
                <a:latin typeface="__Inter_d65c78"/>
              </a:rPr>
              <a:t>keterampilan</a:t>
            </a:r>
            <a:r>
              <a:rPr lang="en-US" sz="2300" b="0" i="0" dirty="0">
                <a:effectLst/>
                <a:latin typeface="__Inter_d65c78"/>
              </a:rPr>
              <a:t>, dan strategi yang </a:t>
            </a:r>
            <a:r>
              <a:rPr lang="en-US" sz="2300" b="0" i="0" dirty="0" err="1">
                <a:effectLst/>
                <a:latin typeface="__Inter_d65c78"/>
              </a:rPr>
              <a:t>diperlukan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untuk</a:t>
            </a:r>
            <a:r>
              <a:rPr lang="en-US" sz="2300" b="0" i="0" dirty="0">
                <a:effectLst/>
                <a:latin typeface="__Inter_d65c78"/>
              </a:rPr>
              <a:t> </a:t>
            </a:r>
            <a:r>
              <a:rPr lang="en-US" sz="2300" b="0" i="0" dirty="0" err="1">
                <a:effectLst/>
                <a:latin typeface="__Inter_d65c78"/>
              </a:rPr>
              <a:t>bermain</a:t>
            </a:r>
            <a:r>
              <a:rPr lang="en-US" sz="2300" b="0" i="0" dirty="0">
                <a:effectLst/>
                <a:latin typeface="__Inter_d65c78"/>
              </a:rPr>
              <a:t>.</a:t>
            </a:r>
            <a:endParaRPr lang="en-US" dirty="0"/>
          </a:p>
          <a:p>
            <a:r>
              <a:rPr lang="en-US" dirty="0"/>
              <a:t>FIBA : FEDERATION INTERNATIONAL BASKETBAL ASOCIATION ( DUNIA )</a:t>
            </a:r>
          </a:p>
          <a:p>
            <a:r>
              <a:rPr lang="en-US" dirty="0"/>
              <a:t>PERBASI : PERSATUAN BOLA BASKET SELURUH INDONESIA ( NASIONAL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77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027A-7DBD-4361-8508-BF8F88B4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GAMBAR LAPANGAN BASKET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3E8FC-3B51-4CDC-8B11-9989E920A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32" name="Picture 8" descr="Ukuran Lapangan Bola Basket Standar Internasional dan Nasional">
            <a:extLst>
              <a:ext uri="{FF2B5EF4-FFF2-40B4-BE49-F238E27FC236}">
                <a16:creationId xmlns:a16="http://schemas.microsoft.com/office/drawing/2014/main" id="{20375939-90DC-4B95-8DA7-9DB3D5D07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95" y="1278859"/>
            <a:ext cx="10356829" cy="542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61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727D-0F30-4B7E-94A5-91D3D83C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TEHNIK DASAR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FA3B-E146-4EAB-AA15-4C5B1127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DRIBBLING (MENGGIRING BOLA)</a:t>
            </a:r>
          </a:p>
          <a:p>
            <a:r>
              <a:rPr lang="en-US" dirty="0"/>
              <a:t>PASSING (MENGOPER BOLA)	</a:t>
            </a:r>
          </a:p>
          <a:p>
            <a:r>
              <a:rPr lang="en-US" dirty="0"/>
              <a:t>SHOOTING (MENEMBAK BOLA)</a:t>
            </a:r>
          </a:p>
          <a:p>
            <a:r>
              <a:rPr lang="en-US" dirty="0"/>
              <a:t>PIVOT (POSISI TUBUH)</a:t>
            </a:r>
          </a:p>
          <a:p>
            <a:r>
              <a:rPr lang="en-US" dirty="0"/>
              <a:t>REBOUND (MENANGKAP BOLA JATUH DARI RING)</a:t>
            </a:r>
          </a:p>
        </p:txBody>
      </p:sp>
    </p:spTree>
    <p:extLst>
      <p:ext uri="{BB962C8B-B14F-4D97-AF65-F5344CB8AC3E}">
        <p14:creationId xmlns:p14="http://schemas.microsoft.com/office/powerpoint/2010/main" val="60311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F3C2-1F3E-4C76-B622-0AC8E9C9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DRIBBLE (MENGGIRING BOLA)</a:t>
            </a:r>
          </a:p>
        </p:txBody>
      </p:sp>
      <p:pic>
        <p:nvPicPr>
          <p:cNvPr id="1026" name="Picture 2" descr="Memantulkan Bola Basket Dengan Satu Tangan Disebut Teknik -  Perumperindo.co.id">
            <a:extLst>
              <a:ext uri="{FF2B5EF4-FFF2-40B4-BE49-F238E27FC236}">
                <a16:creationId xmlns:a16="http://schemas.microsoft.com/office/drawing/2014/main" id="{E86E31A1-4C8C-40DC-A7D6-77E6E1EDEA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7" y="2016919"/>
            <a:ext cx="619125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25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AC3A-7610-4F91-A404-600D2027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Definisi</a:t>
            </a:r>
            <a:r>
              <a:rPr lang="en-US" dirty="0"/>
              <a:t> dribble (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menggiring</a:t>
            </a:r>
            <a:r>
              <a:rPr lang="en-US" dirty="0"/>
              <a:t> bola)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C3858-1C60-480E-B250-3ADBA984E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effectLst/>
                <a:latin typeface="__Inter_d65c78"/>
              </a:rPr>
              <a:t>Dribble </a:t>
            </a:r>
            <a:r>
              <a:rPr lang="en-US" b="0" i="0" dirty="0" err="1">
                <a:effectLst/>
                <a:latin typeface="__Inter_d65c78"/>
              </a:rPr>
              <a:t>dalam</a:t>
            </a:r>
            <a:r>
              <a:rPr lang="en-US" b="0" i="0" dirty="0">
                <a:effectLst/>
                <a:latin typeface="__Inter_d65c78"/>
              </a:rPr>
              <a:t> bola basket </a:t>
            </a:r>
            <a:r>
              <a:rPr lang="en-US" b="0" i="0" dirty="0" err="1">
                <a:effectLst/>
                <a:latin typeface="__Inter_d65c78"/>
              </a:rPr>
              <a:t>adalah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teknik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memantulkan</a:t>
            </a:r>
            <a:r>
              <a:rPr lang="en-US" b="0" i="0" dirty="0">
                <a:effectLst/>
                <a:latin typeface="__Inter_d65c78"/>
              </a:rPr>
              <a:t> bola </a:t>
            </a:r>
            <a:r>
              <a:rPr lang="en-US" b="0" i="0" dirty="0" err="1">
                <a:effectLst/>
                <a:latin typeface="__Inter_d65c78"/>
              </a:rPr>
              <a:t>secara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berulang-ulang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dengan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satu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tangan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saat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bergerak</a:t>
            </a:r>
            <a:r>
              <a:rPr lang="en-US" b="0" i="0" dirty="0">
                <a:effectLst/>
                <a:latin typeface="__Inter_d65c78"/>
              </a:rPr>
              <a:t> di </a:t>
            </a:r>
            <a:r>
              <a:rPr lang="en-US" b="0" i="0" dirty="0" err="1">
                <a:effectLst/>
                <a:latin typeface="__Inter_d65c78"/>
              </a:rPr>
              <a:t>lapangan</a:t>
            </a:r>
            <a:r>
              <a:rPr lang="en-US" b="0" i="0" dirty="0">
                <a:effectLst/>
                <a:latin typeface="__Inter_d65c78"/>
              </a:rPr>
              <a:t>. Teknik </a:t>
            </a:r>
            <a:r>
              <a:rPr lang="en-US" b="0" i="0" dirty="0" err="1">
                <a:effectLst/>
                <a:latin typeface="__Inter_d65c78"/>
              </a:rPr>
              <a:t>ini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digunakan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untuk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mempertahankan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kontrol</a:t>
            </a:r>
            <a:r>
              <a:rPr lang="en-US" b="0" i="0" dirty="0">
                <a:effectLst/>
                <a:latin typeface="__Inter_d65c78"/>
              </a:rPr>
              <a:t> bola, </a:t>
            </a:r>
            <a:r>
              <a:rPr lang="en-US" b="0" i="0" dirty="0" err="1">
                <a:effectLst/>
                <a:latin typeface="__Inter_d65c78"/>
              </a:rPr>
              <a:t>menghindari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lawan</a:t>
            </a:r>
            <a:r>
              <a:rPr lang="en-US" b="0" i="0" dirty="0">
                <a:effectLst/>
                <a:latin typeface="__Inter_d65c78"/>
              </a:rPr>
              <a:t>, dan </a:t>
            </a:r>
            <a:r>
              <a:rPr lang="en-US" b="0" i="0" dirty="0" err="1">
                <a:effectLst/>
                <a:latin typeface="__Inter_d65c78"/>
              </a:rPr>
              <a:t>menciptakan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peluang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untuk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melakukan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umpan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atau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tembakan</a:t>
            </a:r>
            <a:r>
              <a:rPr lang="en-US" b="0" i="0" dirty="0">
                <a:effectLst/>
                <a:latin typeface="__Inter_d65c78"/>
              </a:rPr>
              <a:t>. Dribble </a:t>
            </a:r>
            <a:r>
              <a:rPr lang="en-US" b="0" i="0" dirty="0" err="1">
                <a:effectLst/>
                <a:latin typeface="__Inter_d65c78"/>
              </a:rPr>
              <a:t>memungkinkan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pemain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untuk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bergerak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dengan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bebas</a:t>
            </a:r>
            <a:r>
              <a:rPr lang="en-US" b="0" i="0" dirty="0">
                <a:effectLst/>
                <a:latin typeface="__Inter_d65c78"/>
              </a:rPr>
              <a:t> di </a:t>
            </a:r>
            <a:r>
              <a:rPr lang="en-US" b="0" i="0" dirty="0" err="1">
                <a:effectLst/>
                <a:latin typeface="__Inter_d65c78"/>
              </a:rPr>
              <a:t>lapangan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sambil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menjaga</a:t>
            </a:r>
            <a:r>
              <a:rPr lang="en-US" b="0" i="0" dirty="0">
                <a:effectLst/>
                <a:latin typeface="__Inter_d65c78"/>
              </a:rPr>
              <a:t> bola </a:t>
            </a:r>
            <a:r>
              <a:rPr lang="en-US" b="0" i="0" dirty="0" err="1">
                <a:effectLst/>
                <a:latin typeface="__Inter_d65c78"/>
              </a:rPr>
              <a:t>tetap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dalam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kendali</a:t>
            </a:r>
            <a:r>
              <a:rPr lang="en-US" b="0" i="0" dirty="0">
                <a:effectLst/>
                <a:latin typeface="__Inter_d65c78"/>
              </a:rPr>
              <a:t>, </a:t>
            </a:r>
            <a:r>
              <a:rPr lang="en-US" b="0" i="0" dirty="0" err="1">
                <a:effectLst/>
                <a:latin typeface="__Inter_d65c78"/>
              </a:rPr>
              <a:t>sehingga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menjadi</a:t>
            </a:r>
            <a:r>
              <a:rPr lang="en-US" b="0" i="0" dirty="0">
                <a:effectLst/>
                <a:latin typeface="__Inter_d65c78"/>
              </a:rPr>
              <a:t> salah </a:t>
            </a:r>
            <a:r>
              <a:rPr lang="en-US" b="0" i="0" dirty="0" err="1">
                <a:effectLst/>
                <a:latin typeface="__Inter_d65c78"/>
              </a:rPr>
              <a:t>satu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keterampilan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dasar</a:t>
            </a:r>
            <a:r>
              <a:rPr lang="en-US" b="0" i="0" dirty="0">
                <a:effectLst/>
                <a:latin typeface="__Inter_d65c78"/>
              </a:rPr>
              <a:t> yang sangat </a:t>
            </a:r>
            <a:r>
              <a:rPr lang="en-US" b="0" i="0" dirty="0" err="1">
                <a:effectLst/>
                <a:latin typeface="__Inter_d65c78"/>
              </a:rPr>
              <a:t>penting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dalam</a:t>
            </a:r>
            <a:r>
              <a:rPr lang="en-US" b="0" i="0" dirty="0">
                <a:effectLst/>
                <a:latin typeface="__Inter_d65c78"/>
              </a:rPr>
              <a:t> </a:t>
            </a:r>
            <a:r>
              <a:rPr lang="en-US" b="0" i="0" dirty="0" err="1">
                <a:effectLst/>
                <a:latin typeface="__Inter_d65c78"/>
              </a:rPr>
              <a:t>permainan</a:t>
            </a:r>
            <a:r>
              <a:rPr lang="en-US" b="0" i="0" dirty="0">
                <a:effectLst/>
                <a:latin typeface="__Inter_d65c78"/>
              </a:rPr>
              <a:t> bola basket.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9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AEFA-E44E-4144-A1C3-5E3B813C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melakukan</a:t>
            </a:r>
            <a:r>
              <a:rPr lang="en-US" dirty="0"/>
              <a:t> dribble yang </a:t>
            </a:r>
            <a:r>
              <a:rPr lang="en-US" dirty="0" err="1"/>
              <a:t>benar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2AC4-D0E8-4AB1-9C58-0635D6A9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US" i="0" dirty="0" err="1">
                <a:effectLst/>
                <a:latin typeface="__Inter_d65c78"/>
              </a:rPr>
              <a:t>Posisi</a:t>
            </a:r>
            <a:r>
              <a:rPr lang="en-US" i="0" dirty="0">
                <a:effectLst/>
                <a:latin typeface="__Inter_d65c78"/>
              </a:rPr>
              <a:t> Awal: </a:t>
            </a:r>
            <a:r>
              <a:rPr lang="en-US" i="0" dirty="0" err="1">
                <a:effectLst/>
                <a:latin typeface="__Inter_d65c78"/>
              </a:rPr>
              <a:t>Berdiri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dengan</a:t>
            </a:r>
            <a:r>
              <a:rPr lang="en-US" i="0" dirty="0">
                <a:effectLst/>
                <a:latin typeface="__Inter_d65c78"/>
              </a:rPr>
              <a:t> kaki </a:t>
            </a:r>
            <a:r>
              <a:rPr lang="en-US" i="0" dirty="0" err="1">
                <a:effectLst/>
                <a:latin typeface="__Inter_d65c78"/>
              </a:rPr>
              <a:t>selebar</a:t>
            </a:r>
            <a:r>
              <a:rPr lang="en-US" i="0" dirty="0">
                <a:effectLst/>
                <a:latin typeface="__Inter_d65c78"/>
              </a:rPr>
              <a:t> bahu, </a:t>
            </a:r>
            <a:r>
              <a:rPr lang="en-US" i="0" dirty="0" err="1">
                <a:effectLst/>
                <a:latin typeface="__Inter_d65c78"/>
              </a:rPr>
              <a:t>lutut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sedikit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ditekuk</a:t>
            </a:r>
            <a:r>
              <a:rPr lang="en-US" i="0" dirty="0">
                <a:effectLst/>
                <a:latin typeface="__Inter_d65c78"/>
              </a:rPr>
              <a:t>, dan badan </a:t>
            </a:r>
            <a:r>
              <a:rPr lang="en-US" i="0" dirty="0" err="1">
                <a:effectLst/>
                <a:latin typeface="__Inter_d65c78"/>
              </a:rPr>
              <a:t>condong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ke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depan</a:t>
            </a:r>
            <a:r>
              <a:rPr lang="en-US" i="0" dirty="0">
                <a:effectLst/>
                <a:latin typeface="__Inter_d65c78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i="0" dirty="0" err="1">
                <a:effectLst/>
                <a:latin typeface="__Inter_d65c78"/>
              </a:rPr>
              <a:t>Penggunaan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Tangan</a:t>
            </a:r>
            <a:r>
              <a:rPr lang="en-US" i="0" dirty="0">
                <a:effectLst/>
                <a:latin typeface="__Inter_d65c78"/>
              </a:rPr>
              <a:t>: </a:t>
            </a:r>
            <a:r>
              <a:rPr lang="en-US" i="0" dirty="0" err="1">
                <a:effectLst/>
                <a:latin typeface="__Inter_d65c78"/>
              </a:rPr>
              <a:t>Gunakan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jari-jari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tangan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untuk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memantulkan</a:t>
            </a:r>
            <a:r>
              <a:rPr lang="en-US" i="0" dirty="0">
                <a:effectLst/>
                <a:latin typeface="__Inter_d65c78"/>
              </a:rPr>
              <a:t> bola, </a:t>
            </a:r>
            <a:r>
              <a:rPr lang="en-US" i="0" dirty="0" err="1">
                <a:effectLst/>
                <a:latin typeface="__Inter_d65c78"/>
              </a:rPr>
              <a:t>bukan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telapak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tangan</a:t>
            </a:r>
            <a:r>
              <a:rPr lang="en-US" i="0" dirty="0">
                <a:effectLst/>
                <a:latin typeface="__Inter_d65c78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i="0" dirty="0" err="1">
                <a:effectLst/>
                <a:latin typeface="__Inter_d65c78"/>
              </a:rPr>
              <a:t>Ketinggian</a:t>
            </a:r>
            <a:r>
              <a:rPr lang="en-US" i="0" dirty="0">
                <a:effectLst/>
                <a:latin typeface="__Inter_d65c78"/>
              </a:rPr>
              <a:t> Dribble: Dribble bola pada </a:t>
            </a:r>
            <a:r>
              <a:rPr lang="en-US" i="0" dirty="0" err="1">
                <a:effectLst/>
                <a:latin typeface="__Inter_d65c78"/>
              </a:rPr>
              <a:t>ketinggian</a:t>
            </a:r>
            <a:r>
              <a:rPr lang="en-US" i="0" dirty="0">
                <a:effectLst/>
                <a:latin typeface="__Inter_d65c78"/>
              </a:rPr>
              <a:t> yang </a:t>
            </a:r>
            <a:r>
              <a:rPr lang="en-US" i="0" dirty="0" err="1">
                <a:effectLst/>
                <a:latin typeface="__Inter_d65c78"/>
              </a:rPr>
              <a:t>nyaman</a:t>
            </a:r>
            <a:r>
              <a:rPr lang="en-US" i="0" dirty="0">
                <a:effectLst/>
                <a:latin typeface="__Inter_d65c78"/>
              </a:rPr>
              <a:t>, </a:t>
            </a:r>
            <a:r>
              <a:rPr lang="en-US" i="0" dirty="0" err="1">
                <a:effectLst/>
                <a:latin typeface="__Inter_d65c78"/>
              </a:rPr>
              <a:t>biasanya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setinggi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pinggang</a:t>
            </a:r>
            <a:r>
              <a:rPr lang="en-US" i="0" dirty="0">
                <a:effectLst/>
                <a:latin typeface="__Inter_d65c78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i="0" dirty="0" err="1">
                <a:effectLst/>
                <a:latin typeface="__Inter_d65c78"/>
              </a:rPr>
              <a:t>Arah</a:t>
            </a:r>
            <a:r>
              <a:rPr lang="en-US" i="0" dirty="0">
                <a:effectLst/>
                <a:latin typeface="__Inter_d65c78"/>
              </a:rPr>
              <a:t> Dribble: </a:t>
            </a:r>
            <a:r>
              <a:rPr lang="en-US" i="0" dirty="0" err="1">
                <a:effectLst/>
                <a:latin typeface="__Inter_d65c78"/>
              </a:rPr>
              <a:t>Arahkan</a:t>
            </a:r>
            <a:r>
              <a:rPr lang="en-US" i="0" dirty="0">
                <a:effectLst/>
                <a:latin typeface="__Inter_d65c78"/>
              </a:rPr>
              <a:t> bola </a:t>
            </a:r>
            <a:r>
              <a:rPr lang="en-US" i="0" dirty="0" err="1">
                <a:effectLst/>
                <a:latin typeface="__Inter_d65c78"/>
              </a:rPr>
              <a:t>ke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depan</a:t>
            </a:r>
            <a:r>
              <a:rPr lang="en-US" i="0" dirty="0">
                <a:effectLst/>
                <a:latin typeface="__Inter_d65c78"/>
              </a:rPr>
              <a:t> dan </a:t>
            </a:r>
            <a:r>
              <a:rPr lang="en-US" i="0" dirty="0" err="1">
                <a:effectLst/>
                <a:latin typeface="__Inter_d65c78"/>
              </a:rPr>
              <a:t>ke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samping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sesuai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dengan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arah</a:t>
            </a:r>
            <a:r>
              <a:rPr lang="en-US" i="0" dirty="0">
                <a:effectLst/>
                <a:latin typeface="__Inter_d65c78"/>
              </a:rPr>
              <a:t> </a:t>
            </a:r>
            <a:r>
              <a:rPr lang="en-US" i="0" dirty="0" err="1">
                <a:effectLst/>
                <a:latin typeface="__Inter_d65c78"/>
              </a:rPr>
              <a:t>gerakan</a:t>
            </a:r>
            <a:r>
              <a:rPr lang="en-US" i="0" dirty="0">
                <a:effectLst/>
                <a:latin typeface="__Inter_d65c78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dirty="0" err="1">
                <a:latin typeface="__Inter_d65c78"/>
              </a:rPr>
              <a:t>Mendorong</a:t>
            </a:r>
            <a:r>
              <a:rPr lang="en-US" dirty="0">
                <a:latin typeface="__Inter_d65c78"/>
              </a:rPr>
              <a:t> Bola </a:t>
            </a:r>
            <a:r>
              <a:rPr lang="en-US" dirty="0" err="1">
                <a:latin typeface="__Inter_d65c78"/>
              </a:rPr>
              <a:t>kebawah</a:t>
            </a:r>
            <a:r>
              <a:rPr lang="en-US" dirty="0">
                <a:latin typeface="__Inter_d65c78"/>
              </a:rPr>
              <a:t> : </a:t>
            </a:r>
            <a:r>
              <a:rPr lang="en-US" dirty="0" err="1">
                <a:latin typeface="__Inter_d65c78"/>
              </a:rPr>
              <a:t>Bukan</a:t>
            </a:r>
            <a:r>
              <a:rPr lang="en-US" dirty="0">
                <a:latin typeface="__Inter_d65c78"/>
              </a:rPr>
              <a:t> </a:t>
            </a:r>
            <a:r>
              <a:rPr lang="en-US" dirty="0" err="1">
                <a:latin typeface="__Inter_d65c78"/>
              </a:rPr>
              <a:t>memukulnya</a:t>
            </a:r>
            <a:endParaRPr lang="en-US" i="0" dirty="0">
              <a:effectLst/>
              <a:latin typeface="__Inter_d65c78"/>
            </a:endParaRPr>
          </a:p>
        </p:txBody>
      </p:sp>
    </p:spTree>
    <p:extLst>
      <p:ext uri="{BB962C8B-B14F-4D97-AF65-F5344CB8AC3E}">
        <p14:creationId xmlns:p14="http://schemas.microsoft.com/office/powerpoint/2010/main" val="383497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83DC-83A6-4669-BF9F-7D77F795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Terimakasih</a:t>
            </a:r>
            <a:r>
              <a:rPr lang="en-US" dirty="0"/>
              <a:t> </a:t>
            </a:r>
          </a:p>
        </p:txBody>
      </p:sp>
      <p:pic>
        <p:nvPicPr>
          <p:cNvPr id="2050" name="Picture 2" descr="Michael Jordan | Penjaga | Chicago Bulls ...">
            <a:extLst>
              <a:ext uri="{FF2B5EF4-FFF2-40B4-BE49-F238E27FC236}">
                <a16:creationId xmlns:a16="http://schemas.microsoft.com/office/drawing/2014/main" id="{CF5DAD25-6EA0-4F41-9DDF-8990234B7E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661" y="2052239"/>
            <a:ext cx="5182998" cy="378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90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393</TotalTime>
  <Words>642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__Inter_d65c78</vt:lpstr>
      <vt:lpstr>Arial</vt:lpstr>
      <vt:lpstr>Gill Sans MT</vt:lpstr>
      <vt:lpstr>Telegraf Medium</vt:lpstr>
      <vt:lpstr>Times New Roman</vt:lpstr>
      <vt:lpstr>Gallery</vt:lpstr>
      <vt:lpstr>PERTANYAAN PEMANTIK</vt:lpstr>
      <vt:lpstr>TUJUAN PEMBELAJARAN</vt:lpstr>
      <vt:lpstr>Permainan bola basket</vt:lpstr>
      <vt:lpstr>SEJARAH SINGKAT BOLA BASKET</vt:lpstr>
      <vt:lpstr>DEFINISI BOLA BASKET DAN Induk organisasi internasional dan nasional</vt:lpstr>
      <vt:lpstr>GAMBAR LAPANGAN BASKET</vt:lpstr>
      <vt:lpstr>TEHNIK DASAR</vt:lpstr>
      <vt:lpstr>DRIBBLE (MENGGIRING BOLA)</vt:lpstr>
      <vt:lpstr>Definisi dribble (pengertian menggiring bola)</vt:lpstr>
      <vt:lpstr>Cara melakukan dribble yang benar</vt:lpstr>
      <vt:lpstr>Terimakasih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14</cp:revision>
  <dcterms:created xsi:type="dcterms:W3CDTF">2025-05-20T10:31:54Z</dcterms:created>
  <dcterms:modified xsi:type="dcterms:W3CDTF">2026-03-02T03:19:54Z</dcterms:modified>
</cp:coreProperties>
</file>