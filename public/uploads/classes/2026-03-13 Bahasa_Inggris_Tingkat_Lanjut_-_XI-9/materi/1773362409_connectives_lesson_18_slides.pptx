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Connectives in Analytical Exposition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English Lesson Presentation</a:t>
            </a:r>
          </a:p>
          <a:p>
            <a:r>
              <a:rPr sz="2400">
                <a:solidFill>
                  <a:srgbClr val="212121"/>
                </a:solidFill>
              </a:rPr>
              <a:t>Grade: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• Understand what connectives are</a:t>
            </a:r>
          </a:p>
          <a:p>
            <a:r>
              <a:rPr sz="2400">
                <a:solidFill>
                  <a:srgbClr val="212121"/>
                </a:solidFill>
              </a:rPr>
              <a:t>• Identify different types of connectives</a:t>
            </a:r>
          </a:p>
          <a:p>
            <a:r>
              <a:rPr sz="2400">
                <a:solidFill>
                  <a:srgbClr val="212121"/>
                </a:solidFill>
              </a:rPr>
              <a:t>• Use connectives correctly in sentences</a:t>
            </a:r>
          </a:p>
          <a:p>
            <a:r>
              <a:rPr sz="2400">
                <a:solidFill>
                  <a:srgbClr val="212121"/>
                </a:solidFill>
              </a:rPr>
              <a:t>• Apply connectives in analytical exposition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What Are Connectives?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Connectives are words or phrases that link ideas, sentences, and paragraphs.</a:t>
            </a:r>
          </a:p>
          <a:p>
            <a:r>
              <a:rPr sz="2400">
                <a:solidFill>
                  <a:srgbClr val="212121"/>
                </a:solidFill>
              </a:rPr>
              <a:t>They help readers understand the relationship between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Why Connectives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• Make writing clearer</a:t>
            </a:r>
          </a:p>
          <a:p>
            <a:r>
              <a:rPr sz="2400">
                <a:solidFill>
                  <a:srgbClr val="212121"/>
                </a:solidFill>
              </a:rPr>
              <a:t>• Show logical relationships</a:t>
            </a:r>
          </a:p>
          <a:p>
            <a:r>
              <a:rPr sz="2400">
                <a:solidFill>
                  <a:srgbClr val="212121"/>
                </a:solidFill>
              </a:rPr>
              <a:t>• Organize ideas in a paragraph</a:t>
            </a:r>
          </a:p>
          <a:p>
            <a:r>
              <a:rPr sz="2400">
                <a:solidFill>
                  <a:srgbClr val="212121"/>
                </a:solidFill>
              </a:rPr>
              <a:t>• Improve the flow of a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Addition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add more information.</a:t>
            </a:r>
          </a:p>
          <a:p>
            <a:r>
              <a:rPr sz="2400">
                <a:solidFill>
                  <a:srgbClr val="212121"/>
                </a:solidFill>
              </a:rPr>
              <a:t>Examples: and, also, besides, furthermore, moreover, in addition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Example –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Water sustainability and marine conservation are closely related.</a:t>
            </a:r>
          </a:p>
          <a:p>
            <a:r>
              <a:rPr sz="2400">
                <a:solidFill>
                  <a:srgbClr val="212121"/>
                </a:solidFill>
              </a:rPr>
              <a:t>Moreover, protecting oceans helps maintain biodiversity.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Time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show time order.</a:t>
            </a:r>
          </a:p>
          <a:p>
            <a:r>
              <a:rPr sz="2400">
                <a:solidFill>
                  <a:srgbClr val="212121"/>
                </a:solidFill>
              </a:rPr>
              <a:t>Examples: next, afterward, later, finally, meanwhile, then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Order or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organize steps or arguments.</a:t>
            </a:r>
          </a:p>
          <a:p>
            <a:r>
              <a:rPr sz="2400">
                <a:solidFill>
                  <a:srgbClr val="212121"/>
                </a:solidFill>
              </a:rPr>
              <a:t>Examples: first, second, next, then, finally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Example –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First, it preserves biodiversity.</a:t>
            </a:r>
          </a:p>
          <a:p>
            <a:r>
              <a:rPr sz="2400">
                <a:solidFill>
                  <a:srgbClr val="212121"/>
                </a:solidFill>
              </a:rPr>
              <a:t>Second, it protects marine ecosystems.</a:t>
            </a:r>
          </a:p>
          <a:p>
            <a:r>
              <a:rPr sz="2400">
                <a:solidFill>
                  <a:srgbClr val="212121"/>
                </a:solidFill>
              </a:rPr>
              <a:t>Finally, it supports human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Space and Place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describe location.</a:t>
            </a:r>
          </a:p>
          <a:p>
            <a:r>
              <a:rPr sz="2400">
                <a:solidFill>
                  <a:srgbClr val="212121"/>
                </a:solidFill>
              </a:rPr>
              <a:t>Examples: above, below, behind, next to, across, nearby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Example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introduce examples.</a:t>
            </a:r>
          </a:p>
          <a:p>
            <a:r>
              <a:rPr sz="2400">
                <a:solidFill>
                  <a:srgbClr val="212121"/>
                </a:solidFill>
              </a:rPr>
              <a:t>Examples: for example, for instance, to illustrate, such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Result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show cause and result.</a:t>
            </a:r>
          </a:p>
          <a:p>
            <a:r>
              <a:rPr sz="2400">
                <a:solidFill>
                  <a:srgbClr val="212121"/>
                </a:solidFill>
              </a:rPr>
              <a:t>Examples: therefore, as a result, consequently, thus, 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Purpose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show the aim of something.</a:t>
            </a:r>
          </a:p>
          <a:p>
            <a:r>
              <a:rPr sz="2400">
                <a:solidFill>
                  <a:srgbClr val="212121"/>
                </a:solidFill>
              </a:rPr>
              <a:t>Examples: to this end, for this purpose, with this in 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Comparison and Contrast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Comparison: similarly, in the same way</a:t>
            </a:r>
          </a:p>
          <a:p>
            <a:r>
              <a:rPr sz="2400">
                <a:solidFill>
                  <a:srgbClr val="212121"/>
                </a:solidFill>
              </a:rPr>
              <a:t>Contrast: but, however, nevertheless, on the other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Summary Connectives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Used to conclude ideas.</a:t>
            </a:r>
          </a:p>
          <a:p>
            <a:r>
              <a:rPr sz="2400">
                <a:solidFill>
                  <a:srgbClr val="212121"/>
                </a:solidFill>
              </a:rPr>
              <a:t>Examples: in summary, to sum up, in conclusion, therefore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Practice 1 – Identify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Which connective shows contrast?</a:t>
            </a:r>
          </a:p>
          <a:p>
            <a:r>
              <a:rPr sz="2400">
                <a:solidFill>
                  <a:srgbClr val="212121"/>
                </a:solidFill>
              </a:rPr>
              <a:t>A. Furthermore</a:t>
            </a:r>
          </a:p>
          <a:p>
            <a:r>
              <a:rPr sz="2400">
                <a:solidFill>
                  <a:srgbClr val="212121"/>
                </a:solidFill>
              </a:rPr>
              <a:t>B. However</a:t>
            </a:r>
          </a:p>
          <a:p>
            <a:r>
              <a:rPr sz="2400">
                <a:solidFill>
                  <a:srgbClr val="212121"/>
                </a:solidFill>
              </a:rPr>
              <a:t>C. Therefore</a:t>
            </a:r>
          </a:p>
          <a:p>
            <a:r>
              <a:rPr sz="2400">
                <a:solidFill>
                  <a:srgbClr val="212121"/>
                </a:solidFill>
              </a:rPr>
              <a:t>D.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Practice 2 – Fill in the Blank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Complete the sentence:</a:t>
            </a:r>
          </a:p>
          <a:p>
            <a:r>
              <a:rPr sz="2400">
                <a:solidFill>
                  <a:srgbClr val="212121"/>
                </a:solidFill>
              </a:rPr>
              <a:t>Marine conservation is important; ______, it protects ocean biodiversity.</a:t>
            </a:r>
          </a:p>
          <a:p>
            <a:r>
              <a:rPr sz="2400">
                <a:solidFill>
                  <a:srgbClr val="212121"/>
                </a:solidFill>
              </a:rPr>
              <a:t>A. however</a:t>
            </a:r>
          </a:p>
          <a:p>
            <a:r>
              <a:rPr sz="2400">
                <a:solidFill>
                  <a:srgbClr val="212121"/>
                </a:solidFill>
              </a:rPr>
              <a:t>B. therefore</a:t>
            </a:r>
          </a:p>
          <a:p>
            <a:r>
              <a:rPr sz="2400">
                <a:solidFill>
                  <a:srgbClr val="212121"/>
                </a:solidFill>
              </a:rPr>
              <a:t>C. first</a:t>
            </a:r>
          </a:p>
          <a:p>
            <a:r>
              <a:rPr sz="2400">
                <a:solidFill>
                  <a:srgbClr val="212121"/>
                </a:solidFill>
              </a:rPr>
              <a:t>D. meanwhile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Practice 3 –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Write one sentence using:</a:t>
            </a:r>
          </a:p>
          <a:p>
            <a:r>
              <a:rPr sz="2400">
                <a:solidFill>
                  <a:srgbClr val="212121"/>
                </a:solidFill>
              </a:rPr>
              <a:t>• an addition connective</a:t>
            </a:r>
          </a:p>
          <a:p>
            <a:r>
              <a:rPr sz="2400">
                <a:solidFill>
                  <a:srgbClr val="212121"/>
                </a:solidFill>
              </a:rPr>
              <a:t>• a contrast connective</a:t>
            </a:r>
          </a:p>
          <a:p>
            <a:r>
              <a:rPr sz="2400">
                <a:solidFill>
                  <a:srgbClr val="212121"/>
                </a:solidFill>
              </a:rPr>
              <a:t>Share your answer with the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C3E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212121"/>
                </a:solidFill>
              </a:rPr>
              <a:t>Connectives help organize ideas and make arguments clearer.</a:t>
            </a:r>
          </a:p>
          <a:p>
            <a:r>
              <a:rPr sz="2400">
                <a:solidFill>
                  <a:srgbClr val="212121"/>
                </a:solidFill>
              </a:rPr>
              <a:t>Using connectives correctly improves analytical exposition writing.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English Lesson – Connectives in Analytical Exposition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